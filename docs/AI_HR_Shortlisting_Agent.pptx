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ENABLEMENT INTERNSHIP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AI HR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</a:rPr>
              <a:t>Shortlisting Agent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Automated Resume Screening · Semantic Matching · Ranked Shortlists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657600" cy="777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41648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950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Sneha Dhir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B.Tech CSE (AI/ML) · UPES Dehradun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HR Screening is Broken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242316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4871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HR teams screen hundreds of resumes per role, leading to decision fatigue and inconsistency.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51760" cy="242316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Unconscious Bias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24871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Manual evaluation introduces bias and subjective scoring that affects fair candidate selection.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651760" cy="2423160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Transparency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4871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Candidates receive no visibility into why they were shortlisted or rejected — creating distrust.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939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2062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Solution: An AI agent that standardises evaluation, removes bias, and surfaces top candidates — with full human oversight.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the Agent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184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JD Parser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20574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Extracts skills, experience &amp; qualifications from any Job Description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6184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Multi-Format Input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10712" y="20574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Accepts PDF/DOCX resumes + LinkedIn JSON/PDF exports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1848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Matching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91072" y="20574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SentenceTransformers embeddings for deep profile-JD comparison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297180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729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172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5-Dim Scoring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0352" y="361188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Skills · Experience · Education · Projects · Communication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46120" y="297180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17296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3172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Ranked Shortlist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410712" y="361188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Candidates ranked by weighted score with hire/no-hire recommendation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26480" y="2971800"/>
            <a:ext cx="26974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17296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3172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Human-in-Loop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91072" y="361188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Recruiter can shortlist, hold, or reject with notes — all logged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8-Step Agent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JD + Resumes / LinkedIn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1801368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96312" y="13258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6324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JD Parse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06040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Extract structured requirements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801368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72584" y="13258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82312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82312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39512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82312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Parse all candidate files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01368"/>
            <a:ext cx="201168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48856" y="13258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58584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58584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415784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Dedup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958584" y="1920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Remove duplicate submissions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0040" y="29260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29768" y="3035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2976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86968" y="30358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Score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29768" y="35204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5-dimension rubric scoring</a:t>
            </a:r>
            <a:endParaRPr lang="en-US" sz="9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3401568"/>
            <a:ext cx="201168" cy="20116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2496312" y="29260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606040" y="3035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6060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063240" y="30358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Rank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2606040" y="35204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Sort by total score desc</a:t>
            </a:r>
            <a:endParaRPr lang="en-US" sz="9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3401568"/>
            <a:ext cx="201168" cy="201168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672584" y="2926080"/>
            <a:ext cx="1920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782312" y="3035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78231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239512" y="30358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782312" y="35204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JSON + TXT + HTML output</a:t>
            </a:r>
            <a:endParaRPr lang="en-US" sz="9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401568"/>
            <a:ext cx="201168" cy="201168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848856" y="2926080"/>
            <a:ext cx="1920240" cy="1325880"/>
          </a:xfrm>
          <a:prstGeom prst="rect">
            <a:avLst/>
          </a:prstGeom>
          <a:solidFill>
            <a:srgbClr val="0D948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958584" y="3035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958584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7415784" y="30358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Override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958584" y="35204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Recruiter HITL decisions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5-Dimension Scoring Rubric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Dimension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2344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Weight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 – Poor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 – Average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10 – Excellent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8412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1848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184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Skills Match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1618488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30%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&lt; 30% match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6184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50–70% match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6184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&gt; 85% match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85416"/>
            <a:ext cx="8412480" cy="566928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185416"/>
            <a:ext cx="6400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85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Experience Relevance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0" y="218541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25%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21854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Unrelated domain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854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Adjacent domain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185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Exact domain &amp; seniority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52344"/>
            <a:ext cx="8412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52344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523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 / Portfolio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77440" y="275234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20%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275234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 evidence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275234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1–2 generic projects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7523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Strong relevant portfolio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319272"/>
            <a:ext cx="8412480" cy="566928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319272"/>
            <a:ext cx="64008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3192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Education &amp; Certs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77440" y="331927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15%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08960" y="33192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Below minimum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33192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Meets minimum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33192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Exceeds + extra certs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886200"/>
            <a:ext cx="64008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862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Communication Quality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377440" y="38862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10%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08960" y="3886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Poor structure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37760" y="3886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Adequate clarity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38862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Crisp, structured, impactful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462272"/>
            <a:ext cx="2651760" cy="38404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HIRE  ≥ 7.0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4462272"/>
            <a:ext cx="265176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MAYBE  ≥ 4.5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35040" y="4462272"/>
            <a:ext cx="265176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HIRE  &lt; 4.5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Tools &amp; Decision Log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LLM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60120" y="16733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Qwen2.5:1.5b via Ollama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100% local · Zero cost · GDPR-safe PII handling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00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 Framework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57800" y="16733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 Pipeline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947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Lightweight, no overhead · Full control over flow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251460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Embeddings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60120" y="2862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SentenceTransformers MiniLM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60120" y="31363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 CPU inference · No API cost · Offline-ready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63440" y="251460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Parse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257800" y="2862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PyMuPDF + python-docx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57800" y="31363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Reliable PDF/DOCX extraction with error handling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65760" y="370332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776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776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UI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60120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+ Plotly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60120" y="43251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Rapid prototyping · Interactive gauge charts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663440" y="3703320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776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57800" y="3776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Output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5257800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 + TXT + HTML reports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43251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Three formats covering all recruiter use cases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LLM CHOICE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Why Qwen2.5:1.5b (Local)?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Criterion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Qwen2.5:1.5b ✓ CHOSEN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GPT-4o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Claude 3.5 Sonnet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560320" cy="2926080"/>
          </a:xfrm>
          <a:prstGeom prst="rect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18488"/>
            <a:ext cx="841248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184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Cost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618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Free (local)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6184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$5–15/1M tok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184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$3–15/1M tok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PII Privacy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1214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✅ 100% Local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❌ Cloud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1214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❌ Cloud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24328"/>
            <a:ext cx="841248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Offline Use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26243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✅ Yes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❌ 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624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❌ 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8412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Setup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127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1 command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127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key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30168"/>
            <a:ext cx="841248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Context Window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630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32K tokens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128K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630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51960"/>
            <a:ext cx="320040" cy="320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005840" y="417880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Resumes contain PII — running locally ensures candidate data NEVER leaves the machine. Critical for GDPR compliance and HR data governance.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Risk Mitigations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910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89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7099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Candidate text sanitised before injection · Structured output schema · Output validation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29844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9105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389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PII / Data Privacy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57800" y="17099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100% local Ollama processing · No candidate data sent to cloud APIs · GDPR safe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248716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97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578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API Key Exposure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60120" y="28986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.env + python-dotenv · No hardcoded keys · .env in .gitignore · .env.example provided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63440" y="248716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7977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578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Hallucination Risk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257800" y="28986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Scores are fully deterministic (keyword math) · LLM only writes summary text · HITL review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65760" y="367588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68496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Unauthorised Access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60120" y="4087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App runs locally only · No exposed public endpoint · No auth needed for prototype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663440" y="3675888"/>
            <a:ext cx="40690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68496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57800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 Retention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257800" y="4087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Temp files cleared at pipeline start · Reports stored locally only · No cloud storage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Streamlit Dashboard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520440"/>
          </a:xfrm>
          <a:prstGeom prst="rect">
            <a:avLst/>
          </a:prstGeom>
          <a:solidFill>
            <a:srgbClr val="0B112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29844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29844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280160"/>
            <a:ext cx="32004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280160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localhost:8501  —  AI HR Shortlisting Agent 🤖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8412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 AI HR Shortlisting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AI-Powered Resume Screening &amp; Candidate Ranking 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256032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📄 Job Description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TXT / PDF / DOCX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8680" y="2788920"/>
            <a:ext cx="1828800" cy="228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Browse files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56032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📑 Resumes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PDF / DOCX (multi)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11880" y="2788920"/>
            <a:ext cx="1828800" cy="228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Browse files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2194560"/>
            <a:ext cx="2560320" cy="1005840"/>
          </a:xfrm>
          <a:prstGeom prst="rect">
            <a:avLst/>
          </a:prstGeom>
          <a:solidFill>
            <a:srgbClr val="172554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LinkedIn Files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JSON / PDF / TXT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55080" y="2788920"/>
            <a:ext cx="1828800" cy="228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Browse files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08960" y="3246120"/>
            <a:ext cx="2926080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246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🚀  Run AI Shortlisting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749040"/>
            <a:ext cx="8229600" cy="822960"/>
          </a:xfrm>
          <a:prstGeom prst="rect">
            <a:avLst/>
          </a:prstGeom>
          <a:solidFill>
            <a:srgbClr val="17255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Ranked Candidates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4114800"/>
            <a:ext cx="164592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1148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Sneha Dhir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427024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8.15 / 10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29000" y="4114800"/>
            <a:ext cx="164592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1148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Arjun Mehta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0" y="427024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7.25 / 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72200" y="4114800"/>
            <a:ext cx="16459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1148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Rahul Sharma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427024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6.95 /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LIVE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Real Agent Test Runs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TechCorp India · Senior ML Engineer – Conversational AI &amp; LLMs · 5 Candidates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20240" cy="640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Candidates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920240" cy="640080"/>
          </a:xfrm>
          <a:prstGeom prst="rect">
            <a:avLst/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920240" cy="64008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Maybe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75120" y="1508760"/>
            <a:ext cx="1920240" cy="640080"/>
          </a:xfrm>
          <a:prstGeom prst="rect">
            <a:avLst/>
          </a:prstGeom>
          <a:solidFill>
            <a:srgbClr val="1E3A5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No Hire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Rank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Candidate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Role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Rec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06040"/>
            <a:ext cx="8412480" cy="438912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606040"/>
            <a:ext cx="54864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060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#1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26060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Sneha Dhir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0" y="26060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AI/ML Engineer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606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8.15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0" y="26060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HIRE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044952"/>
            <a:ext cx="8412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044952"/>
            <a:ext cx="54864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04495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#2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" y="30449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Arjun Mehta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0" y="304495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Senior ML Eng. | LLMs | 6 Yrs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04495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7.25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40880" y="30449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HIRE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483864"/>
            <a:ext cx="8412480" cy="438912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483864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838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#3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34838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Rahul Sharma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26080" y="348386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ML Engineer | Python | 4 Yrs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348386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6.95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40880" y="348386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MAYBE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922776"/>
            <a:ext cx="8412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922776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9227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#4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" y="392277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Priya Nair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926080" y="392277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Data Scientist | NLP | 3 Yrs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392277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6.19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40880" y="39227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MAYBE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4361688"/>
            <a:ext cx="8412480" cy="438912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361688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3616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#5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" y="43616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Ravi Kumar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926080" y="43616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Frontend Dev | React | 2 Yrs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26480" y="436168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5.00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040880" y="43616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MAYBE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727448"/>
            <a:ext cx="219456" cy="219456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822960" y="4681728"/>
            <a:ext cx="7818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Frontend dev (Ravi Kumar, 2 yrs) correctly scored MAYBE at 5.0 — agent penalised non-ML background while crediting structured communication.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Dimension Score Breakdown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60520" cy="41148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Sneha Dhir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8.15 / 10  HIRE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984248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984248"/>
            <a:ext cx="128016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Skills Match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0" y="1819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30%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0" y="1929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Matched 6/6 required skills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404872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606040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606040"/>
            <a:ext cx="512064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41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441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25%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551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0.0 yrs — fresher (known gap)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3026664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227832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3227832"/>
            <a:ext cx="128016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20%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346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Sem. similarity 0.77 | llm, rag, langchain, langgraph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648456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849624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3849624"/>
            <a:ext cx="1152144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Education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0" y="3685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15%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34840" y="3794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AI/ML domain match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4270248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0" y="4471416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4471416"/>
            <a:ext cx="1024128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Communication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0" y="43068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10%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34840" y="4416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590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Well-structured resume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1280160"/>
            <a:ext cx="4160520" cy="41148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Arjun Mehta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54380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7.25 / 10  HIRE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1783080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3800" y="1984248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1984248"/>
            <a:ext cx="512064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819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Skills Match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20840" y="1819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30%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69680" y="1929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2103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Matched 2/6 — partial keyword gap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00600" y="2404872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3800" y="2606040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43800" y="2606040"/>
            <a:ext cx="128016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2441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Experience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720840" y="2441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25%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69680" y="2551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89204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6.0 yrs — fully meets Senior req.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800600" y="3026664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43800" y="3227832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3227832"/>
            <a:ext cx="128016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720840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20%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86968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92040" y="3346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Sem. similarity 0.64 | rag, langgraph, kubernetes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800600" y="3648456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43800" y="3849624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43800" y="3849624"/>
            <a:ext cx="64008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9204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Education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720840" y="3685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15%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869680" y="3794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92040" y="39684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Adjacent domain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800600" y="4270248"/>
            <a:ext cx="41605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43800" y="4471416"/>
            <a:ext cx="128016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43800" y="4471416"/>
            <a:ext cx="1024128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Communication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720840" y="43068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10%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869680" y="4416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892040" y="4590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Well-structured resume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</a:rPr>
              <a:t>REFLECTIONS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Learnings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7772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0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99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Structured Prompts &gt; Free-form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Constraining LLM output to JSON schema eliminated hallucinations and reduced parsing errors dramatically.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2194560"/>
            <a:ext cx="7772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Privacy-First Architecture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2578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Local inference via Ollama proved that PII-safe AI pipelines are viable without sacrificing capability.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7772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644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136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Human-in-the-Loop is Non-Negotiable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005840" y="34472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 scoring flags candidates but final decisions always rest with the recruiter — accountability matters.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3931920"/>
            <a:ext cx="7772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3308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4005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Semantic &gt; Keyword Only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05840" y="4315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SentenceTransformers embedding similarity surfaced strong candidates whose resumes used different terminology.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Thank you  ·  Questions Welcome  ·  Sneha Dhir · B.Tech CSE AI/ML · UPES Dehradun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HR Shortlisting Agent</dc:title>
  <dc:subject>PptxGenJS Presentation</dc:subject>
  <dc:creator>Sneha Dhir</dc:creator>
  <cp:lastModifiedBy>Sneha Dhir</cp:lastModifiedBy>
  <cp:revision>1</cp:revision>
  <dcterms:created xsi:type="dcterms:W3CDTF">2026-05-10T10:33:35Z</dcterms:created>
  <dcterms:modified xsi:type="dcterms:W3CDTF">2026-05-10T10:33:35Z</dcterms:modified>
</cp:coreProperties>
</file>